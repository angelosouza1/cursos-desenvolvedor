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Estilo com Tema 2 - Ênfas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586" autoAdjust="0"/>
  </p:normalViewPr>
  <p:slideViewPr>
    <p:cSldViewPr>
      <p:cViewPr varScale="1">
        <p:scale>
          <a:sx n="66" d="100"/>
          <a:sy n="66" d="100"/>
        </p:scale>
        <p:origin x="-1488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edondar Retângulo em um Canto Diagonal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11" name="Espaço Reservado para Número de Slide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9" name="Espaço Reservado para Data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Rodapé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3" name="Espaço Reservado para Imagem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pt-B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 no ícone para adicionar uma imagem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edondar Retângulo em um Canto Diagonal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E4B7868F-AAFF-47D9-B364-9A4225B53960}" type="datetimeFigureOut">
              <a:rPr lang="pt-BR" smtClean="0"/>
              <a:t>21/10/2013</a:t>
            </a:fld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5FA979E0-94E3-4360-BE16-01D53015FDF1}" type="slidenum">
              <a:rPr lang="pt-BR" smtClean="0"/>
              <a:t>‹nº›</a:t>
            </a:fld>
            <a:endParaRPr lang="pt-BR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gif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dev.mysql.com/doc/refman/5.0/en/numeric-types.html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1520" y="3284984"/>
            <a:ext cx="8586330" cy="648072"/>
          </a:xfrm>
        </p:spPr>
        <p:txBody>
          <a:bodyPr/>
          <a:lstStyle/>
          <a:p>
            <a:pPr algn="ctr"/>
            <a:r>
              <a:rPr lang="pt-BR" dirty="0" smtClean="0"/>
              <a:t>Iniciando no banco de dados MySQL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devmedia.com.br/imagens/fotoscolunistas/rafael-1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293096"/>
            <a:ext cx="1726177" cy="200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4140247" y="4875823"/>
            <a:ext cx="28843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 smtClean="0"/>
              <a:t>Rafael Silva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9460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O que é o MySQL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51520" y="3809644"/>
            <a:ext cx="871296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 smtClean="0"/>
              <a:t>O MySQL é um sistema de gerenciamento de banco de dados (SGBD), que utiliza a linguagem SQL (Linguagem de Consulta Estruturada - </a:t>
            </a:r>
            <a:r>
              <a:rPr lang="pt-BR" sz="2200" dirty="0" err="1" smtClean="0"/>
              <a:t>Structured</a:t>
            </a:r>
            <a:r>
              <a:rPr lang="pt-BR" sz="2200" dirty="0" smtClean="0"/>
              <a:t> Query </a:t>
            </a:r>
            <a:r>
              <a:rPr lang="pt-BR" sz="2200" dirty="0" err="1" smtClean="0"/>
              <a:t>Language</a:t>
            </a:r>
            <a:r>
              <a:rPr lang="pt-BR" sz="2200" dirty="0" smtClean="0"/>
              <a:t>) como interface. É atualmente um dos bancos de dados mais populares.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76190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Características MySQL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51520" y="3809644"/>
            <a:ext cx="871296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pt-BR" sz="2200" dirty="0" smtClean="0"/>
              <a:t>É um SGDB;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É gratuito para você utilizar em seus projetos;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Triggers;</a:t>
            </a:r>
          </a:p>
          <a:p>
            <a:pPr marL="342900" indent="-342900">
              <a:buFontTx/>
              <a:buChar char="-"/>
            </a:pPr>
            <a:r>
              <a:rPr lang="pt-BR" sz="2200" dirty="0" err="1" smtClean="0"/>
              <a:t>Stored</a:t>
            </a:r>
            <a:r>
              <a:rPr lang="pt-BR" sz="2200" dirty="0" smtClean="0"/>
              <a:t> Procedures;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Replicação de dados;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99,9% dos sites de hospedagem oferecem de forma gratuita;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É facilmente integrado ao Java, PHP, ASP.NET, </a:t>
            </a:r>
            <a:r>
              <a:rPr lang="pt-BR" sz="2200" dirty="0" err="1" smtClean="0"/>
              <a:t>Ruby</a:t>
            </a:r>
            <a:r>
              <a:rPr lang="pt-BR" sz="2200" dirty="0"/>
              <a:t> </a:t>
            </a:r>
            <a:r>
              <a:rPr lang="pt-BR" sz="2200" dirty="0" err="1" smtClean="0"/>
              <a:t>on</a:t>
            </a:r>
            <a:r>
              <a:rPr lang="pt-BR" sz="2200" dirty="0" smtClean="0"/>
              <a:t> </a:t>
            </a:r>
            <a:r>
              <a:rPr lang="pt-BR" sz="2200" dirty="0" err="1" smtClean="0"/>
              <a:t>Rails</a:t>
            </a:r>
            <a:r>
              <a:rPr lang="pt-BR" sz="2200" dirty="0" smtClean="0"/>
              <a:t> </a:t>
            </a:r>
            <a:r>
              <a:rPr lang="pt-BR" sz="2200" dirty="0" err="1" smtClean="0"/>
              <a:t>etc</a:t>
            </a:r>
            <a:r>
              <a:rPr lang="pt-BR" sz="2200" dirty="0" smtClean="0"/>
              <a:t>;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66864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Site Oficial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051720" y="4293096"/>
            <a:ext cx="5184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dirty="0" smtClean="0"/>
              <a:t>http://www.mysql.com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29713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Banco de Dados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://docmanagement.com.br/wp-content/uploads/2012/09/banco-de-dado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789040"/>
            <a:ext cx="2664296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1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O que é banco de dados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51520" y="3809644"/>
            <a:ext cx="871296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pt-BR" sz="2200" dirty="0" smtClean="0"/>
              <a:t>Um repositório para armazenamento de dados;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Em um banco de dados você pode armazenar informações;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O MySQL é um banco de dados;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47542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>
            <a:normAutofit fontScale="92500"/>
          </a:bodyPr>
          <a:lstStyle/>
          <a:p>
            <a:pPr algn="l"/>
            <a:r>
              <a:rPr lang="pt-BR" dirty="0" smtClean="0"/>
              <a:t>Banco de dados na prática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51520" y="3809644"/>
            <a:ext cx="871296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pt-BR" sz="2200" dirty="0" smtClean="0"/>
              <a:t>Um repositório para armazenamento de dados;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Em um banco de dados você pode armazenar informações;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O MySQL é um banco de dados;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59085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78" y="0"/>
            <a:ext cx="9481332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693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>
            <a:normAutofit/>
          </a:bodyPr>
          <a:lstStyle/>
          <a:p>
            <a:pPr algn="l"/>
            <a:r>
              <a:rPr lang="pt-BR" dirty="0" smtClean="0"/>
              <a:t>Só existe o MySQL?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http://www.targettrust.com.br/blog/wp-content/uploads/2011/07/Curso-Oracle-em-Porto-Aleg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789040"/>
            <a:ext cx="3816424" cy="75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data:image/jpeg;base64,/9j/4AAQSkZJRgABAQAAAQABAAD/2wCEAAkGBxQTEhQUExIVFRQXFx0YFRgYGBcYFxgWFxgXGx0cGhgYHSggGBomIBgYITEhJSorLjouFyAzODMsNygtLisBCgoKDg0OGxAQGywkICUsLCwsNzEsLyw3LC4sLCwvLCwvLzQsLCssLTU0LywsLSwsLC8sLCwsLC0sNCwwLCwsLP/AABEIAMsA+AMBEQACEQEDEQH/xAAcAAEAAgIDAQAAAAAAAAAAAAAABQYEBwECAwj/xABPEAACAQMBBQQFBgoEDgIDAAABAgMABBEhBQYSMUEHE1FhIjJxgZEUI0JSYqEIFTM0cnOSssHRF5Ox8DU2Q1NUVXSCorO00uHxRNMWJCb/xAAaAQEAAgMBAAAAAAAAAAAAAAAAAQQCAwUG/8QANhEBAAIBAgMFBgYCAAcAAAAAAAECAwQREjFBBRMhUXEiMmGBkfAzobHB0eEjYhQVQkNywvH/2gAMAwEAAhEDEQA/AN40CgUCgUCgUCgUCgUCgUCgUGLeX8cfrsAeg5sfYBrQeCXMsnqJ3a/Wk9b3IOXvoFxZegxLM7AZBJ0BGowo06UGbBJxKGHUZoPSgUCgUCgUCgUCgUCgUCgUCgUCgUCgUCgUCgUCgUFUn27JcSdzaaDXikPgDgkeA6ZqY223LRMTtLmPZhhlyZTxN6sjKGBPUHi9U+dEJgfKV/zb/FT/ACqEvRbp/pQn3EGg42W/NPA6Z8KDPoFAoFAoFAoFAoFAoFAoFAoFAoFAoFAoFAoFAoFBrje3YdzaO95s+RkRtZ4lAYc8l1Q6EcyQMHrWi9bV8auxo82DPEYtRXeek/tv+jiPeG/e2Mpgt7uAjJeJijDHPKNqrDqKRkvtvtuyvotL3ndTa1LeUxv+bnZ3aUsSL8ptrhFIBR+EMpB1GGJHEPMZqP8AiPOEz2HkmZjHkrbb6pS138s5zrcrGvg3EpPvIrOM9J6q2TsjWU5039PFNx7QgbhaGaNsdFdSSPZnNbItE9VLJp8uP3qzHySympanagUCgUCgUCgUCgUCgUCgUCgUCgUCgUCgUCgUCg4IoKPtrZjWErXlshMD/ncAGhU6GRAORGcnHn51otXgnijl1djTZa6ukafLO1o9y3/rP7Mns9vlaKW3DBlgciM+MEnpxnHhwnHu8qYbbxMeTHtXDal65Zjbijx/8o8JR22DbXcpgs7SCaQaSTlQIYvPK+u3gAaxvNbTw1jdZ09c+mp3uoyWrHSvW315Qipuz62S6ht5GkImiYh1IU99GeI4GCApU6D7HWtc4axeKz1W6ds6i+nvmpEezMeH+s+Efn+qS/o3ki/Ndozx45Kc49/AwH3Vs7iY5WVf+d48n42Gs/f31Ym0jtexQyNeQSRj/OFQT5AMBk+/NRbvadYbMUdnau3DXHaJ+Hj/AD+jwse1C5X8vZFgMEsnGpAPIkMCNfaKRnnrCcvYeH/t5NvXaf3hY9ldpVjLgNI0LeEgwP2hkVtjNSXNzdkanHyjf0/jmttrdJIoaN1dTyZWDA+wjQ1sid+TnWras7WjaXtUsSgUCgUCgUCgUCgUCgUCgUCgUCgUCgUCg6yLkYIyDz9lCJmJ8Gkd5LOSwup4o2ZYZgD6PMxFs8IzyI9Iew+dczLvjvMdJe60WSmt09Ml4ibV8+XFtzXTdbe7Z8cSRIGgA+upIJ8S65GfM4qxj1GKI4Y8HD13ZeuyZJyW9qfhP7S996doRm42dKkiFROcsGBAVlwcnoMGpy3rxUmJ6sNDhvGHPjtWd+Hlt133db7e+W4cw7Nj7xgcNM4IjTxIzz9/wNTOabTw44+acXZePBXvdbbaOlY5z9/ezL2VueiuJ7uQ3U/Pik9RPHgTkPb/AGVnXDtPFbxlX1HadrV7rT14K+Uc59Z5um4s3fteXXNJZuCPwMcSgAjyOT8KjFPFxW6J7Tp3NcWHrFd59ZlIbX3Ps7nPeW6cX1l9B/iuM++tk4626KuHX6jD7tp2+PjCkbU3Dlssy2V93XXhlcJn/e9U+8VqnHw+MS6ePtKmo9nPj39I3+/k893+1V0bu71FYA472LB95Ckq3tX4UrmmPeRn7Jifawz8p+/1bP2btKKeMSQyLIh5FT9x8D5Gt8TE8nFyY747cN42ll1LAoFAoFAoFAoFAoFAoFAoFAoFAoFAoFBUt7oALzZ8uP8AKtGfMMuQPuNVs0e3Sfi6/Z9pnTZ6f6xP0l77ybIsQjSTxIv2lHC5Plw+sfbWWWmOI3tDVotTrJvGPDaZ9fGP6a0j2I8syxxRsveAvGHIzwANqT/ukZqjGOZnaHqp1lceKb3tvt4WmPNObJ3ln2fiCe39AcgFCP7Q3Jz5/fW2ma2L2bQ5+o7Pw67/AC4r+M/OPpzhJb3b7xPZkW7nvJfQwdGRcekT4aHHvrbl1FZp7Kr2d2Plrqt80ezXx+E+UPDZO+EVvDFaWUEl1Iq6lRhOI6k55kZzrgDzpTNWsRWkbyz1HZmXNltqNTeKRM9ee3T75s9dn7WutZbhLOM/Qi1lx+l09xrZEZbc52U5y9n6fwx0m8+c8vo9pt0rG1jae64p+AZZ52MmT5KfRJPhip7utY3nxao12pz2jHj9nfyjZh7nbES8SW6uoI+CfCQRFRwxwJyxjGCTrkeGetTSN95lOszTgtXFjtO9ec+co3aW6l1syQ3OznZ4hrJASSSOun0x5+sPOsZpNfGrbj1eLVV7vURtPSfv/wCLrujvRFfQ95How0kQ4yje7mp6H+yttLcUOdqtLfT34bcukp4VkrFAoFAoFAoFAoFAoFAoFAoFAoFAoFBU9/LtYzaM2SFn48DmQqNy97Cq+omI4fV1+ysVskZa1612+swbP2O9xILm9HLWKE+qg+0DzP8ALXwpXHN547/KEZtVTBTudN87efp8HhsW4R7i4vZGVY1+ajY6DAxnHjyHLxrHHMTeck8uTZqcd6YMelpG8z7Uo/eXef5RG8cFuJI1GXkkX0Vx1GdFPgSc+VY5c3FG1Y3hY0XZ3cXi+W/DM8oifv8ARTrTdW4nheaJOJVOAPpN4lR1x8aq1w3tXih28naWDBmjFefGfpHqu3Z3vNE4Fs0aQTDkFHAJMDXQ6h/EH/1b0+WJjhmNpcHtns/JSe/rabV+u39eUr27AAkkADUk8gBVtwNt2s7ovtq74F4hs+BsswyO9caaH4+wHPMiq/4lvDk78RXs7BxT+JaOXlDZkUYUAKAAAAAOQA5AeVWHBmZmd5ctRCg71bLW1n/GFm8aTD8vCWVVnTm2NfX0z7s1qtG08UOnps3e07jLvt0nyn+Fz2RtKO4hjmiOUdQR4jyPgRyrZExMbw5+XHbHea25wzalgUCgUCgUCgUCgUCgUCgUCgUCgUHBNBRN6LR727MULAfJ4+Ik5A7xyMLkcjgZz5VUy1nLfhjo72hy00en7zJHvz+UdUZHvHciN7RwWlJ7tWyOIZOCuRo3kfOtXfX2mk81udBp5yV1Ffdjxn+UxsfcwlVN05Kr6sSn0RnxI6+z4mtuPT+EcalqO1YiZ7iOfOf4eF/F8tlFpbgJaxHMrKMAsOg8fL4+FRaO8ngryhnit/weOdRm8cluUSvFpbrGiogCqowoHQCrcRERtDhXva9ptad5lSu0DYds477v47e5TVXLBeIrqAw55zyIGfbVfNjpPtb7S7fZOr1FJ7rgm9J8Jjbl6fwqO2N/mubeK3YOC2lyY8cTgchH+lzNa5zTaOH6uni7HrgzWy122/6d+nr6dExszbe0O6SLZ+zBFEowplzy8SWZPS6k61sra+21Yc/NptLxzfUZuK0+X3P7JKLYO2JtZ9oJCPqwqM4PTOB/Gs4rknnKrbUaKn4eOZ9WXD2dxHW4ubq4PUNKyqfcv86nuonnLTPaN49yta/JLWG51jDjgtIgR1K8TftNk1lGOsdGi+sz353lNRQhRhVCjwAAHwFZq8zMzvL0ogoFAoFAoFAoFAoFAoFAoFAoFAoIveLbCWsDzP8AR0UdWY8gP78s1hkvwVmVnR6W2pzRir1/KPNru1v5hbFgWjE7lnk/ytxI/wBCFefD04vL40Yvbg8t/rPo9LkwYpz7T7XBG0R0pEdbfH4JCTc9orJpWJ+UL87odFVdSvmeufEVnODhx8XXmqx2pGTVRjj3J9n136/0kNubyq8aQrMsZdFaaTPqKw1VQNS510FbMmbeIiJ9VfS6C1LzltWZ2meGPOY6z8IYVpvdHEogsLZ5SOpHM9WIXJ95xWFc8VjhxxusZOy8mS3favJFf2+Hl9NyXZ+1rr8pMttGfoqcHHsTU+9gKcOe/OdkRn7L0vuVm8/H+/D8mZYdmVsDxTySTt1yeEfdrj31nXS0jn4tObt/PaOHFEVj6rRs7YVvAMQwRp5hRxH2tzPvNWK0rXlDlZtVmzfiXmfmkMVkruaBQKBQKBQKBQKBQKBQKBQKBQKBQKBQKDzuJlRWd2CqoJYk4AA1JJ8KTOzKtbXmK1jeZa12ntuO4lE0iGVV/M7XrIeRnlB9SPnjOmBmqd7xaeKflH7vS6fSXwY+7xzwzP4lvL/WPOfPbr4OsW8cEMnfSv8AK7sjhVItYoV+ojcvIsMmsYy1rPFPjb9GVtBmzY+6xx3eKOc252+Mx+keCQB2pfDBVbSFhggghip56H0j7wtZf5svwhXmOztHO8T3lo+/T9WdsvcO3jYd4WmbGTxaL7lH8SazrpqRz8VbUdtZ8nhT2Y+HP6rTbW6xLwoiqo6KAB8BViIiOTk3vbJPFed5+LvNyqWL1FBzQKBQKBQKBQKBQKBQKBQKBQKBQKBQKBQKDpLKqgsxAUDJJOAAOpPSiYiZnaGm9897pL+T5NZq7Q5+iDxSkHmR0TwB99VMt5vPDV6vs/Q49JXvs8xFv0/tmbE7NpnBkvJTEp1ZFIZyPBm1A9mvSorp5n3kant7HT2cFd9us8o9IXrYG7kECHuogpPJjqxx4sdasUxUpyh57U67PqZ/y2mfhyhN28mRrzGhrYquFOXPkKD1ZgOdB4Tcs4wKDIXkKDmgUCgUCgUCgUCgUCgUCgUCgUCgUCgUCg8Ly6SJC7sFUcyfuA8T5UmdmVazadoVLaOyrnaRxKzW1nnIjH5abzkxpGvgup11ANapib8+ToYs+LSeNI4r+fSPTzln7q7Kht2kSGMIBp4k4ONWOprZFIryU8+py57cWS26Uv5eJhGvPr/f76lpZ6LgADpQYtyQp4gcN1HjQdLeQknGMnrQZUcWNTqfE0HW7Og9tB7Cg5oFAoFAoFAoFAoFAoFAoFAoFAoFAoFB4Xl0saM7nCqMn+/jQYGz4TMVnlGOsSH6APX9Mjr4GkxCYmdtkriiFdnn7mdiMEMCefj/AOalDnZ9y2SQhdz11wKCSWKV/WYKPAVCXW5hVAANWY8zQZgtxgDw69aAFYfaHnoaDxuXyVHLWgzKBQKBQKBQKBQKBQKBQKBQKBQKBQKBQKCn70XnHcwwYLKCGZV5sSc4+A++phEpnv7p/VhSIeMjcR/ZTT76hLhtmO2s1wxHMhcIKlCOs9nCYs0eVjGik5JY+OvSgzdnXxjPdSjhxyPT/wBedJSms9elQI21k7yQyH1V5UGUbwclyx8uXxoOwRm9Y4HgP4mg8AB3uByFBn0CgUCgUCgUCgUCgUCgUCgUCgUCgUCgUFE3vjaG6SdeRwQftJpj4AVlCJXHZ16s0ayIdCPgeoPmKxSj9pSGeT5OhwowZ2HQdEHmankJaKIKAqjAAwB4CoEZta7tyMOwJHLh1Ye8cvfUwIiO8kAMY4uFvVBHpY8qIZ2zUjbR3OR9E+iP/NBOxoANAAPKoS5dsAnwoMHZevE56nSgkKBQKBQKBQKBQKBQKBQKBQKBQKBQKBQKDE2ns9J4yjjQ8j1B8RQUlhcbPdselG3I68BPQ/ZasvCUJjYV6zpw24TPN3kb0yx5twLrqfOokSP4mZ/y87v9lfQT4Dn8aD2kghtkLhFHCOfUnoMnrUJY+w7ZmJnk9Z/VHgp/v8KmUJSa3R/WUH2j+NQlgyxxR8pWQ/VDZ/4Tmg8L25kCY1IY4HEvCx9gz/CpEraw8KKvgNfb1qB7UCgUCgUCgUCgUCg8o7hSxUOpZfWAIJGfEdKDm4nVFLOwVRzLEADOnM0Hk19GJFjMiCRwWRCw4mVeZVeZAyNfOgyaBQKBQKDg0EZs/b9tPLJDFOkksX5RVOSuuNSNMg6Y8aCUoFB0kjDAhgCDzB1BoK7e7pJxccDtE/TGq+7qKndGzol5fQflIhOn1kPpfdqfh76eAwL/AG9HLIveq6RJrwEek7+B6cIqdjdNwbVkl/Jdyo+1IGb9lD/GoGQNmu/5Wd28lwi/dUJZdtZRx+qgHnzPxNBhTOHnyxASIaknA428zUiSWZTjDA55YI1xzx41A9KBQKBQKBQKBQKBQadguGtdtXd5n5hrqO1uB0CzQxmOT2K+h8n8qDN7Z52uEktI2wlvbtd3JHlkQp7S2W9ieYoLXJfot/ZwmGMs1rI4mI+cQJwAqpxop4tdelBibL3jv7z5+0trcWnGQjTSOssqA4LqqoVUHBxxEUHaPea7lvLm3gt4e7tpEEkskjAGNlDEBVU5k5+AwOdBj229N/cxvdWdrbtagv3YlldZpljJUsoVCq5KtjJoOLjft5fkK2ccQku42kU3LtGicGAUyisWk4iRgDpQZ+1N4rmNra2jgie+mVnZe8IgiRCAzs/DxFckYAXPOg8LfeK9EslnNBbrdmHvoGWSQ28iBgrgtwcasueXDQU/Zsl7Hu/O8aWyDglIkWSVZeHjn7xtI/ygYLw66jOSMAUFh2jNtE2UHqo5AwYHkYMAkZTvHKBkJ+c9XTIXXWguewXcwIZCxbXVwFcrk8JZRyYjGRQSFAoFB5TQK2jKre0A/wBtBHy7u2zf5FR+jlf3SKbyOi7vIvqSTJ7HP8anceybPlXlcufJlRvvxmoQ5fZSmF4mOePJZiASWJznHKiUds3dVIbjvxIxwZSqHHCvfvxvw9Rk8Of0BQWKgUCgUCgUCgUCgUFLi3UaQ7WSYYjvHBjYEFgBCq8WOjKwyPZQRlpufdfiq9SYrJf3StxkH0fRUJGoY9Aqg/7xoJ262HI9/azFR3SWssUhzrxSGPAA6+qdaCK3aTaNhGlkLNLiKNuGK4EyxjuixwZEKkhgDyGc+XOgmdgbHkjutovIAEuJEMZBySoiCnI6a0EDse32lY2/yGKzSdU41guO+VFCMzFe8QqWBXixpnOOnOg6X+7Tw2NvZNs5NoosZ4n7xYmSckksvECVU8XrDUY5HoHW13bv7UWFyvDdXMEDQXEbOVLxOQw4JDn0lIxqNR4UEvsmxuri8+WXMItljgaGCHjEj5kKl3dl0HqqABmg8rXdqb8SSWTBVnaKZQM5XMkkjLqPJhQT26ss5t0Fxb9w6AJw8YkyFVRxZA0BOdPKgmRQKDjNBzQKBQKBQKBQKBQKBQKBQKBQKBQah7Re1eSG4Nls5BJODwO5Uvh/qRoPWYdScjpg9AgTb71uO8HeAHXh47VT+wWyPZQXXsm23tGZ7qHaSsrwiMpxRhGIfvM6jRh6I1oL3tPaMdvE80zhI0HEzHkB7BqT5DWg0ptjtgvbubudlWxx0Yp3krefD6qD2g+0UHm1pvYfTzJ447y1/d4s+7nQdtldre0LKYQ7VtiV6twd3KB4gerIPh7aDduytpRXESTQuHjcZVh1H8D5UFF7ad67nZ8Fu9q4RnkKtlVbIC5+kNKC47qXjzWVpNIcySW8UjnAGWeNWJwNBqTQSmKDmgrW/u+EWzLbvpBxOx4Yoxzd8Z5/RUDmf5ig1Fa7y7x7TzJaIUizoYxHGnsDzHL/ABNB7wbW3ks5YzdK7RNIocssUqBSwBy0RPD8RQb6FBzQKBQKBQKBQKBQKBQKBQKBQfNnYcy/jhvlH5YpJw8WM97n0uf08cX30H0nQcYoNC9vu3pJrqHZ0JOBwl1H05ZDhAfHA6eL+yg2puDudDs22WNFBlYAzSfSd8DOvRRyA5deZNBZ6Cub87pxbRtmhkUceCYn6o+NDnnjxHhQam7ANvSQ3U2z5cgNxMqn6Esejge0DX9Ggm/wk/zW0/XN+4aDYm4f+DLD/ZIP+SlBO0Cg0H+EoW7+0GvB3b48OLiXP8KDc+6jRGytjBjuu5Tu8fV4R9/j50EoRQDQUve7tOsbBzHI7Syj1o4gGZf0iSFX2Zz5UEHsvty2fK4SRJ4cnHGyqyD2lWJHwoNl2twsiK6MGRhlWU5BB5EGgrTb/wBoL/8AF5MnyjiC+p6GSvH62eWDQQm3u2bZ1tKYvnpypwzRKhQEcxxO68R9mnnQSV12mWUdzHbSGVZJDHw5T0fngpUls6D0hrQXMUGHtnacdtBJPKcRxqWYgZOB4DqaCL3Q3vt9opJJbCTgRgpLrwgsRnA1OcDGfaKCO3v7SrHZ7d3K7SS9YogGcfpEkKvsJz5UFe2b26bPkcLJHcQgn12VWUe3gYsPcDQbMsrtJY1kjdXRxxKynIIPUGgrd5v/AGkd8tgxk+UMyqMJ6OXAI9LPLWght4e2PZ9rM0Pz0zKcOYVUqpHMcTuuSPLI86CZm34hBh4Y5GEsYlHIEKUVzprllV1JGRz0zQUHtQ7LJWma+2dkSFu8kiU8L94DnvIiPpZ1xoc6jnQYm5vbRJEwt9pxtlfRMwBV1I0+cixr5kYPlQbssL2OaNZInWSNxlWUggjyIoPnyJRPvb6Y0F0SOusMZK/eimg+i6BQKD50to+53twg/wDkty0/Kxkt+8TQWn8JP81tP1zfuGg2LuH/AIMsP9kg/wCSlBO0Cgq/aDubHtO27pzwSKeKKTGeBvMdVI0I9/Sg0ps/bW1N3Ze5miL25bIVs903iYpMegx6j4ig3VuTv3a7STMLcMoHpxPgOvn9pfMfdQY3avvM1hs+SSM4mciKI/VZs5b3KCfbigo/Y12dwywC+vEE7ykmNJBxKFDeuwPrMxB59KC7b49nVnd28ipbxQzBT3UkaKhVwNM8IHEueYNBSfwdNuOVuLJycR/ORg814jh1A6DODjxJoKZv5HM+8U6W5KzPKiIw5gvEik+4E0G59j9luzYYVia1jmYDDySDLs3U5z6OvQcqCh/hBbuCNbW8hBXuwIHxnQLkxH2j0hnzHhQbU3F24L2wt7jq6YfykQlX5/aU0Gvvwitvd3aw2in0pm43/Vx8h72I/YoM+6kOwt3wF0uCoHmJ5uZ158Of+EUFe7GOz+K4iN/ep35kZu6WT0gcNhncH1iWB5+HnQbC3p7PLG7geMW0MUnCe7kjRUZWxpqoGRy0NBr38HjbMiyXNjISVX5xAT6jBuFwPI5B9oPjQVjtT73/APIGEBImZoljI5h2VVBGOutBuDYPZZs6CBY5LaOd8enJIMszdcfVHhignX3VtjwfN4CIsagE44EAAHwUA+IGDmgmsUFS393BttpRnjXgnA+bmUDiBHIN9ZfI+7FBqvsL2zNbbQl2dIfm24xwnkk0R1K+RAYEeygwd+3Ozt41uTohljm5c42wsmPE6P8AGg+jYZQyhlIKkZBHIg8iKDvQdJZQoLMQqqCWJ0AAGST4Cg+d+zIG/wB4ZLsA8CtLNy+iwKID4HDD9mgtP4Sf5rafrm/cNBsXcP8AwZYf7JB/yUoJ2gUCgxtoWEc8bRzRrJGwwysMg+6g+cO0ndhtiXsFxZuyxsS8WTko6EcSE9Vww58wSOlBaO3LaHynZezrgDAlYSY8C8Wf50Edut2dbSuLSCaDajRxOgZEEkwCD6uFbAwc8qCU/oq2t/rh/wCtn/7qCc7MezOfZt288twkgaJkIUNniLK2TnnyPxoKbcf43j9ev/Tig+g6CC322EL2xuLc83Q8B8JF9JD+0BnyzQaz/B22yQtzYyaOjd6qnmBkI4x5Hh/aoIuAfjjeVifSt7VjjwKQNgH2NIc+w0Fk/COB+QQeHykZ/q5KCp7n9nu0bmzhmt9qNFE65VBJMAuCQRhWxzB5UEx/RVtf/XD/ANbP/wB1BL9m/ZfcbOvTcy3CSAxsrABuIliDkk8+X30FT3nH/wDWQfroP7FoPoEUHNBpzdjt2gZVW+ieOTrJGOKM+ZXPEvsGaCY21217OjjJgZ7iTHoqI3QZ+00gGB7M0FP7DtiTXF9NtOVSI/nOEn6cspPFw+KqOLJ8SB44C+9rW4n4yt1aLAuYcmPOgdTzQ+3Aweh9poNb7idqM2zAbLaEMrJGeFdAJYh9XDY4k6jXroSMUGxT2y7K4OLv3J+p3MnF+7w/fQa8317S7jav/wCls6CUJJo+gMsg8MAkRp46+8Cg2b2V7jjZlsQ+GuJSGmYagY9VFPgMnXqSfKgqv4Sf5rafrm/cNBxux2y7Pt7O1gdbjjigjjbhjQjiSNVOCX1GRQSf9OmzfqXX9Wn/ANlBsexuxLGki54XUMueeGGRnzoKJ2g9o52Xdwo8XewyRlm4TiRWDYyM6EeR+NAt+2fZTJxGaRDj1Gict7MoCv30Grt/N5X2/eW9tZQvwISF4gMkuQGdwCQqAAcz1PjQbZ303H+UbIWyix3kCJ3JPVohjGftDiHtINBrnsu7TF2ehsb9JFSNiEYKS0Zz6SOnPGc8snXlQbEvu1/ZUacQuWkOMhUjcsfL0gAD7SKCS7PN8PxnDNOIjEizGOME5JUIhyTyzljy8KDU9x/jgP16/wDTig+g6BQfOO/vebH23JcRDCTIzpjQfOoVceGQ/pY/RoL32A7v9zZPdOD3l02cnn3aEhfiSx948KC2do27Zv7CaBcd5jiizoO8XUAnoDy99BqDsv7RvxZx2N+kixq54Tw5aFj6ysvMrnJ0yck880Gyrrte2UicQuS+mQqRycR8tVAB/SIoJHs93xG1IppliMaJMY0BOWICI2WxoDljoM8qDVO83+NkP66D+xaD6BoFBWNr9n+zrli0tnFxnUso4GJ8SVxk+ZoMSz7LtlxniFmjH7ZZx8GOD76C3wxKqhVUKoGAAAAAOgA5Cg70ETtvdq1u8fKbaKUjQFlHEB4BhqB76DV3aR2Pw/J+92dGVljyWjyT3ideHPJh0HWg7dhe9tsU+RNDFb3QGAyqFNwF+seZlHUE68x1FBuTNBHbb2BbXaqtzCkqqcqG5AkYzQQ/9HGy/wDQIfgf50D+jjZf+gQ/A/zoLLbwKiqijCqAqgcgBoBQYe2dh290oW5gjmUcuNQSPYTqvuoKy3ZPsonPyQc+Qd8fDNBY9ibvW1oCLa3jhB9bhUAn2tzPvNBKUEBt/cyxvDxXFrG74xx44Xx+kuCffQRVr2WbLQ5FmreTlmHwJxQW61tUjQJGioi6KqgKoHkBoKCMO61obn5V8nT5Rni73B4sgcOc58NKCZoFBEbb3atbwqbm3jmKZ4OIZxnGcfAUEjZ2qRRpHGoVEUKijkqqMAD2Cg9qCC2/ufZXh4rm2jkfGOPGHx4cQ1x5UEPbdley0Ofkat5MzMPgTQW6ztEiQJEixoowqooVQPIDQUEbPutaPcC6a3jNwCGEhB4gV5Hn0xQTAoOaBQKBQKBQcGg+YO2qzS32s5gXuyyJKSmR86xJLjHqnIB0xrrQfQ+5928tlbSSNxO8KszaakjU6UEzQKBQKBQKBQKBQKBQKBQKBQKBQKBQKBQKBQ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6" descr="data:image/jpeg;base64,/9j/4AAQSkZJRgABAQAAAQABAAD/2wCEAAkGBxQTEhQUExIVFRQXFx0YFRgYGBcYFxgWFxgXGx0cGhgYHSggGBomIBgYITEhJSorLjouFyAzODMsNygtLisBCgoKDg0OGxAQGywkICUsLCwsNzEsLyw3LC4sLCwvLCwvLzQsLCssLTU0LywsLSwsLC8sLCwsLC0sNCwwLCwsLP/AABEIAMsA+AMBEQACEQEDEQH/xAAcAAEAAgIDAQAAAAAAAAAAAAAABQYEBwECAwj/xABPEAACAQMBBQQFBgoEDgIDAAABAgMABBEhBQYSMUEHE1FhIjJxgZEUI0JSYqEIFTM0cnOSssHRF5Ox8DU2Q1NUVXSCorO00uHxRNMWJCb/xAAaAQEAAgMBAAAAAAAAAAAAAAAAAQQCAwUG/8QANhEBAAIBAgMFBgYCAAcAAAAAAAECAwQREjFBBRMhUXEiMmGBkfAzobHB0eEjYhQVQkNywvH/2gAMAwEAAhEDEQA/AN40CgUCgUCgUCgUCgUCgUCgUGLeX8cfrsAeg5sfYBrQeCXMsnqJ3a/Wk9b3IOXvoFxZegxLM7AZBJ0BGowo06UGbBJxKGHUZoPSgUCgUCgUCgUCgUCgUCgUCgUCgUCgUCgUCgUCgUFUn27JcSdzaaDXikPgDgkeA6ZqY223LRMTtLmPZhhlyZTxN6sjKGBPUHi9U+dEJgfKV/zb/FT/ACqEvRbp/pQn3EGg42W/NPA6Z8KDPoFAoFAoFAoFAoFAoFAoFAoFAoFAoFAoFAoFAoFBrje3YdzaO95s+RkRtZ4lAYc8l1Q6EcyQMHrWi9bV8auxo82DPEYtRXeek/tv+jiPeG/e2Mpgt7uAjJeJijDHPKNqrDqKRkvtvtuyvotL3ndTa1LeUxv+bnZ3aUsSL8ptrhFIBR+EMpB1GGJHEPMZqP8AiPOEz2HkmZjHkrbb6pS138s5zrcrGvg3EpPvIrOM9J6q2TsjWU5039PFNx7QgbhaGaNsdFdSSPZnNbItE9VLJp8uP3qzHySympanagUCgUCgUCgUCgUCgUCgUCgUCgUCgUCgUCgUCg4IoKPtrZjWErXlshMD/ncAGhU6GRAORGcnHn51otXgnijl1djTZa6ukafLO1o9y3/rP7Mns9vlaKW3DBlgciM+MEnpxnHhwnHu8qYbbxMeTHtXDal65Zjbijx/8o8JR22DbXcpgs7SCaQaSTlQIYvPK+u3gAaxvNbTw1jdZ09c+mp3uoyWrHSvW315Qipuz62S6ht5GkImiYh1IU99GeI4GCApU6D7HWtc4axeKz1W6ds6i+nvmpEezMeH+s+Efn+qS/o3ki/Ndozx45Kc49/AwH3Vs7iY5WVf+d48n42Gs/f31Ym0jtexQyNeQSRj/OFQT5AMBk+/NRbvadYbMUdnau3DXHaJ+Hj/AD+jwse1C5X8vZFgMEsnGpAPIkMCNfaKRnnrCcvYeH/t5NvXaf3hY9ldpVjLgNI0LeEgwP2hkVtjNSXNzdkanHyjf0/jmttrdJIoaN1dTyZWDA+wjQ1sid+TnWras7WjaXtUsSgUCgUCgUCgUCgUCgUCgUCgUCgUCgUCg6yLkYIyDz9lCJmJ8Gkd5LOSwup4o2ZYZgD6PMxFs8IzyI9Iew+dczLvjvMdJe60WSmt09Ml4ibV8+XFtzXTdbe7Z8cSRIGgA+upIJ8S65GfM4qxj1GKI4Y8HD13ZeuyZJyW9qfhP7S996doRm42dKkiFROcsGBAVlwcnoMGpy3rxUmJ6sNDhvGHPjtWd+Hlt133db7e+W4cw7Nj7xgcNM4IjTxIzz9/wNTOabTw44+acXZePBXvdbbaOlY5z9/ezL2VueiuJ7uQ3U/Pik9RPHgTkPb/AGVnXDtPFbxlX1HadrV7rT14K+Uc59Z5um4s3fteXXNJZuCPwMcSgAjyOT8KjFPFxW6J7Tp3NcWHrFd59ZlIbX3Ps7nPeW6cX1l9B/iuM++tk4626KuHX6jD7tp2+PjCkbU3Dlssy2V93XXhlcJn/e9U+8VqnHw+MS6ePtKmo9nPj39I3+/k893+1V0bu71FYA472LB95Ckq3tX4UrmmPeRn7Jifawz8p+/1bP2btKKeMSQyLIh5FT9x8D5Gt8TE8nFyY747cN42ll1LAoFAoFAoFAoFAoFAoFAoFAoFAoFAoFBUt7oALzZ8uP8AKtGfMMuQPuNVs0e3Sfi6/Z9pnTZ6f6xP0l77ybIsQjSTxIv2lHC5Plw+sfbWWWmOI3tDVotTrJvGPDaZ9fGP6a0j2I8syxxRsveAvGHIzwANqT/ukZqjGOZnaHqp1lceKb3tvt4WmPNObJ3ln2fiCe39AcgFCP7Q3Jz5/fW2ma2L2bQ5+o7Pw67/AC4r+M/OPpzhJb3b7xPZkW7nvJfQwdGRcekT4aHHvrbl1FZp7Kr2d2Plrqt80ezXx+E+UPDZO+EVvDFaWUEl1Iq6lRhOI6k55kZzrgDzpTNWsRWkbyz1HZmXNltqNTeKRM9ee3T75s9dn7WutZbhLOM/Qi1lx+l09xrZEZbc52U5y9n6fwx0m8+c8vo9pt0rG1jae64p+AZZ52MmT5KfRJPhip7utY3nxao12pz2jHj9nfyjZh7nbES8SW6uoI+CfCQRFRwxwJyxjGCTrkeGetTSN95lOszTgtXFjtO9ec+co3aW6l1syQ3OznZ4hrJASSSOun0x5+sPOsZpNfGrbj1eLVV7vURtPSfv/wCLrujvRFfQ95How0kQ4yje7mp6H+yttLcUOdqtLfT34bcukp4VkrFAoFAoFAoFAoFAoFAoFAoFAoFAoFBU9/LtYzaM2SFn48DmQqNy97Cq+omI4fV1+ysVskZa1612+swbP2O9xILm9HLWKE+qg+0DzP8ALXwpXHN547/KEZtVTBTudN87efp8HhsW4R7i4vZGVY1+ajY6DAxnHjyHLxrHHMTeck8uTZqcd6YMelpG8z7Uo/eXef5RG8cFuJI1GXkkX0Vx1GdFPgSc+VY5c3FG1Y3hY0XZ3cXi+W/DM8oifv8ARTrTdW4nheaJOJVOAPpN4lR1x8aq1w3tXih28naWDBmjFefGfpHqu3Z3vNE4Fs0aQTDkFHAJMDXQ6h/EH/1b0+WJjhmNpcHtns/JSe/rabV+u39eUr27AAkkADUk8gBVtwNt2s7ovtq74F4hs+BsswyO9caaH4+wHPMiq/4lvDk78RXs7BxT+JaOXlDZkUYUAKAAAAAOQA5AeVWHBmZmd5ctRCg71bLW1n/GFm8aTD8vCWVVnTm2NfX0z7s1qtG08UOnps3e07jLvt0nyn+Fz2RtKO4hjmiOUdQR4jyPgRyrZExMbw5+XHbHea25wzalgUCgUCgUCgUCgUCgUCgUCgUCgUHBNBRN6LR727MULAfJ4+Ik5A7xyMLkcjgZz5VUy1nLfhjo72hy00en7zJHvz+UdUZHvHciN7RwWlJ7tWyOIZOCuRo3kfOtXfX2mk81udBp5yV1Ffdjxn+UxsfcwlVN05Kr6sSn0RnxI6+z4mtuPT+EcalqO1YiZ7iOfOf4eF/F8tlFpbgJaxHMrKMAsOg8fL4+FRaO8ngryhnit/weOdRm8cluUSvFpbrGiogCqowoHQCrcRERtDhXva9ptad5lSu0DYds477v47e5TVXLBeIrqAw55zyIGfbVfNjpPtb7S7fZOr1FJ7rgm9J8Jjbl6fwqO2N/mubeK3YOC2lyY8cTgchH+lzNa5zTaOH6uni7HrgzWy122/6d+nr6dExszbe0O6SLZ+zBFEowplzy8SWZPS6k61sra+21Yc/NptLxzfUZuK0+X3P7JKLYO2JtZ9oJCPqwqM4PTOB/Gs4rknnKrbUaKn4eOZ9WXD2dxHW4ubq4PUNKyqfcv86nuonnLTPaN49yta/JLWG51jDjgtIgR1K8TftNk1lGOsdGi+sz353lNRQhRhVCjwAAHwFZq8zMzvL0ogoFAoFAoFAoFAoFAoFAoFAoFAoIveLbCWsDzP8AR0UdWY8gP78s1hkvwVmVnR6W2pzRir1/KPNru1v5hbFgWjE7lnk/ytxI/wBCFefD04vL40Yvbg8t/rPo9LkwYpz7T7XBG0R0pEdbfH4JCTc9orJpWJ+UL87odFVdSvmeufEVnODhx8XXmqx2pGTVRjj3J9n136/0kNubyq8aQrMsZdFaaTPqKw1VQNS510FbMmbeIiJ9VfS6C1LzltWZ2meGPOY6z8IYVpvdHEogsLZ5SOpHM9WIXJ95xWFc8VjhxxusZOy8mS3favJFf2+Hl9NyXZ+1rr8pMttGfoqcHHsTU+9gKcOe/OdkRn7L0vuVm8/H+/D8mZYdmVsDxTySTt1yeEfdrj31nXS0jn4tObt/PaOHFEVj6rRs7YVvAMQwRp5hRxH2tzPvNWK0rXlDlZtVmzfiXmfmkMVkruaBQKBQKBQKBQKBQKBQKBQKBQKBQKBQKDzuJlRWd2CqoJYk4AA1JJ8KTOzKtbXmK1jeZa12ntuO4lE0iGVV/M7XrIeRnlB9SPnjOmBmqd7xaeKflH7vS6fSXwY+7xzwzP4lvL/WPOfPbr4OsW8cEMnfSv8AK7sjhVItYoV+ojcvIsMmsYy1rPFPjb9GVtBmzY+6xx3eKOc252+Mx+keCQB2pfDBVbSFhggghip56H0j7wtZf5svwhXmOztHO8T3lo+/T9WdsvcO3jYd4WmbGTxaL7lH8SazrpqRz8VbUdtZ8nhT2Y+HP6rTbW6xLwoiqo6KAB8BViIiOTk3vbJPFed5+LvNyqWL1FBzQKBQKBQKBQKBQKBQKBQKBQKBQKBQKBQKDpLKqgsxAUDJJOAAOpPSiYiZnaGm9897pL+T5NZq7Q5+iDxSkHmR0TwB99VMt5vPDV6vs/Q49JXvs8xFv0/tmbE7NpnBkvJTEp1ZFIZyPBm1A9mvSorp5n3kant7HT2cFd9us8o9IXrYG7kECHuogpPJjqxx4sdasUxUpyh57U67PqZ/y2mfhyhN28mRrzGhrYquFOXPkKD1ZgOdB4Tcs4wKDIXkKDmgUCgUCgUCgUCgUCgUCgUCgUCgUCgUCg8Ly6SJC7sFUcyfuA8T5UmdmVazadoVLaOyrnaRxKzW1nnIjH5abzkxpGvgup11ANapib8+ToYs+LSeNI4r+fSPTzln7q7Kht2kSGMIBp4k4ONWOprZFIryU8+py57cWS26Uv5eJhGvPr/f76lpZ6LgADpQYtyQp4gcN1HjQdLeQknGMnrQZUcWNTqfE0HW7Og9tB7Cg5oFAoFAoFAoFAoFAoFAoFAoFAoFAoFB4Xl0saM7nCqMn+/jQYGz4TMVnlGOsSH6APX9Mjr4GkxCYmdtkriiFdnn7mdiMEMCefj/AOalDnZ9y2SQhdz11wKCSWKV/WYKPAVCXW5hVAANWY8zQZgtxgDw69aAFYfaHnoaDxuXyVHLWgzKBQKBQKBQKBQKBQKBQKBQKBQKBQKBQKCn70XnHcwwYLKCGZV5sSc4+A++phEpnv7p/VhSIeMjcR/ZTT76hLhtmO2s1wxHMhcIKlCOs9nCYs0eVjGik5JY+OvSgzdnXxjPdSjhxyPT/wBedJSms9elQI21k7yQyH1V5UGUbwclyx8uXxoOwRm9Y4HgP4mg8AB3uByFBn0CgUCgUCgUCgUCgUCgUCgUCgUCgUCgUFE3vjaG6SdeRwQftJpj4AVlCJXHZ16s0ayIdCPgeoPmKxSj9pSGeT5OhwowZ2HQdEHmankJaKIKAqjAAwB4CoEZta7tyMOwJHLh1Ye8cvfUwIiO8kAMY4uFvVBHpY8qIZ2zUjbR3OR9E+iP/NBOxoANAAPKoS5dsAnwoMHZevE56nSgkKBQKBQKBQKBQKBQKBQKBQKBQKBQKBQKDE2ns9J4yjjQ8j1B8RQUlhcbPdselG3I68BPQ/ZasvCUJjYV6zpw24TPN3kb0yx5twLrqfOokSP4mZ/y87v9lfQT4Dn8aD2kghtkLhFHCOfUnoMnrUJY+w7ZmJnk9Z/VHgp/v8KmUJSa3R/WUH2j+NQlgyxxR8pWQ/VDZ/4Tmg8L25kCY1IY4HEvCx9gz/CpEraw8KKvgNfb1qB7UCgUCgUCgUCgUCg8o7hSxUOpZfWAIJGfEdKDm4nVFLOwVRzLEADOnM0Hk19GJFjMiCRwWRCw4mVeZVeZAyNfOgyaBQKBQKDg0EZs/b9tPLJDFOkksX5RVOSuuNSNMg6Y8aCUoFB0kjDAhgCDzB1BoK7e7pJxccDtE/TGq+7qKndGzol5fQflIhOn1kPpfdqfh76eAwL/AG9HLIveq6RJrwEek7+B6cIqdjdNwbVkl/Jdyo+1IGb9lD/GoGQNmu/5Wd28lwi/dUJZdtZRx+qgHnzPxNBhTOHnyxASIaknA428zUiSWZTjDA55YI1xzx41A9KBQKBQKBQKBQKBQadguGtdtXd5n5hrqO1uB0CzQxmOT2K+h8n8qDN7Z52uEktI2wlvbtd3JHlkQp7S2W9ieYoLXJfot/ZwmGMs1rI4mI+cQJwAqpxop4tdelBibL3jv7z5+0trcWnGQjTSOssqA4LqqoVUHBxxEUHaPea7lvLm3gt4e7tpEEkskjAGNlDEBVU5k5+AwOdBj229N/cxvdWdrbtagv3YlldZpljJUsoVCq5KtjJoOLjft5fkK2ccQku42kU3LtGicGAUyisWk4iRgDpQZ+1N4rmNra2jgie+mVnZe8IgiRCAzs/DxFckYAXPOg8LfeK9EslnNBbrdmHvoGWSQ28iBgrgtwcasueXDQU/Zsl7Hu/O8aWyDglIkWSVZeHjn7xtI/ygYLw66jOSMAUFh2jNtE2UHqo5AwYHkYMAkZTvHKBkJ+c9XTIXXWguewXcwIZCxbXVwFcrk8JZRyYjGRQSFAoFB5TQK2jKre0A/wBtBHy7u2zf5FR+jlf3SKbyOi7vIvqSTJ7HP8anceybPlXlcufJlRvvxmoQ5fZSmF4mOePJZiASWJznHKiUds3dVIbjvxIxwZSqHHCvfvxvw9Rk8Of0BQWKgUCgUCgUCgUCgUFLi3UaQ7WSYYjvHBjYEFgBCq8WOjKwyPZQRlpufdfiq9SYrJf3StxkH0fRUJGoY9Aqg/7xoJ262HI9/azFR3SWssUhzrxSGPAA6+qdaCK3aTaNhGlkLNLiKNuGK4EyxjuixwZEKkhgDyGc+XOgmdgbHkjutovIAEuJEMZBySoiCnI6a0EDse32lY2/yGKzSdU41guO+VFCMzFe8QqWBXixpnOOnOg6X+7Tw2NvZNs5NoosZ4n7xYmSckksvECVU8XrDUY5HoHW13bv7UWFyvDdXMEDQXEbOVLxOQw4JDn0lIxqNR4UEvsmxuri8+WXMItljgaGCHjEj5kKl3dl0HqqABmg8rXdqb8SSWTBVnaKZQM5XMkkjLqPJhQT26ss5t0Fxb9w6AJw8YkyFVRxZA0BOdPKgmRQKDjNBzQKBQKBQKBQKBQKBQKBQKBQKBQah7Re1eSG4Nls5BJODwO5Uvh/qRoPWYdScjpg9AgTb71uO8HeAHXh47VT+wWyPZQXXsm23tGZ7qHaSsrwiMpxRhGIfvM6jRh6I1oL3tPaMdvE80zhI0HEzHkB7BqT5DWg0ptjtgvbubudlWxx0Yp3krefD6qD2g+0UHm1pvYfTzJ447y1/d4s+7nQdtldre0LKYQ7VtiV6twd3KB4gerIPh7aDduytpRXESTQuHjcZVh1H8D5UFF7ad67nZ8Fu9q4RnkKtlVbIC5+kNKC47qXjzWVpNIcySW8UjnAGWeNWJwNBqTQSmKDmgrW/u+EWzLbvpBxOx4Yoxzd8Z5/RUDmf5ig1Fa7y7x7TzJaIUizoYxHGnsDzHL/ABNB7wbW3ks5YzdK7RNIocssUqBSwBy0RPD8RQb6FBzQKBQKBQKBQKBQKBQKBQKBQfNnYcy/jhvlH5YpJw8WM97n0uf08cX30H0nQcYoNC9vu3pJrqHZ0JOBwl1H05ZDhAfHA6eL+yg2puDudDs22WNFBlYAzSfSd8DOvRRyA5deZNBZ6Cub87pxbRtmhkUceCYn6o+NDnnjxHhQam7ANvSQ3U2z5cgNxMqn6Esejge0DX9Ggm/wk/zW0/XN+4aDYm4f+DLD/ZIP+SlBO0Cg0H+EoW7+0GvB3b48OLiXP8KDc+6jRGytjBjuu5Tu8fV4R9/j50EoRQDQUve7tOsbBzHI7Syj1o4gGZf0iSFX2Zz5UEHsvty2fK4SRJ4cnHGyqyD2lWJHwoNl2twsiK6MGRhlWU5BB5EGgrTb/wBoL/8AF5MnyjiC+p6GSvH62eWDQQm3u2bZ1tKYvnpypwzRKhQEcxxO68R9mnnQSV12mWUdzHbSGVZJDHw5T0fngpUls6D0hrQXMUGHtnacdtBJPKcRxqWYgZOB4DqaCL3Q3vt9opJJbCTgRgpLrwgsRnA1OcDGfaKCO3v7SrHZ7d3K7SS9YogGcfpEkKvsJz5UFe2b26bPkcLJHcQgn12VWUe3gYsPcDQbMsrtJY1kjdXRxxKynIIPUGgrd5v/AGkd8tgxk+UMyqMJ6OXAI9LPLWght4e2PZ9rM0Pz0zKcOYVUqpHMcTuuSPLI86CZm34hBh4Y5GEsYlHIEKUVzprllV1JGRz0zQUHtQ7LJWma+2dkSFu8kiU8L94DnvIiPpZ1xoc6jnQYm5vbRJEwt9pxtlfRMwBV1I0+cixr5kYPlQbssL2OaNZInWSNxlWUggjyIoPnyJRPvb6Y0F0SOusMZK/eimg+i6BQKD50to+53twg/wDkty0/Kxkt+8TQWn8JP81tP1zfuGg2LuH/AIMsP9kg/wCSlBO0Cgq/aDubHtO27pzwSKeKKTGeBvMdVI0I9/Sg0ps/bW1N3Ze5miL25bIVs903iYpMegx6j4ig3VuTv3a7STMLcMoHpxPgOvn9pfMfdQY3avvM1hs+SSM4mciKI/VZs5b3KCfbigo/Y12dwywC+vEE7ykmNJBxKFDeuwPrMxB59KC7b49nVnd28ipbxQzBT3UkaKhVwNM8IHEueYNBSfwdNuOVuLJycR/ORg814jh1A6DODjxJoKZv5HM+8U6W5KzPKiIw5gvEik+4E0G59j9luzYYVia1jmYDDySDLs3U5z6OvQcqCh/hBbuCNbW8hBXuwIHxnQLkxH2j0hnzHhQbU3F24L2wt7jq6YfykQlX5/aU0Gvvwitvd3aw2in0pm43/Vx8h72I/YoM+6kOwt3wF0uCoHmJ5uZ158Of+EUFe7GOz+K4iN/ep35kZu6WT0gcNhncH1iWB5+HnQbC3p7PLG7geMW0MUnCe7kjRUZWxpqoGRy0NBr38HjbMiyXNjISVX5xAT6jBuFwPI5B9oPjQVjtT73/APIGEBImZoljI5h2VVBGOutBuDYPZZs6CBY5LaOd8enJIMszdcfVHhignX3VtjwfN4CIsagE44EAAHwUA+IGDmgmsUFS393BttpRnjXgnA+bmUDiBHIN9ZfI+7FBqvsL2zNbbQl2dIfm24xwnkk0R1K+RAYEeygwd+3Ozt41uTohljm5c42wsmPE6P8AGg+jYZQyhlIKkZBHIg8iKDvQdJZQoLMQqqCWJ0AAGST4Cg+d+zIG/wB4ZLsA8CtLNy+iwKID4HDD9mgtP4Sf5rafrm/cNBsXcP8AwZYf7JB/yUoJ2gUCgxtoWEc8bRzRrJGwwysMg+6g+cO0ndhtiXsFxZuyxsS8WTko6EcSE9Vww58wSOlBaO3LaHynZezrgDAlYSY8C8Wf50Edut2dbSuLSCaDajRxOgZEEkwCD6uFbAwc8qCU/oq2t/rh/wCtn/7qCc7MezOfZt288twkgaJkIUNniLK2TnnyPxoKbcf43j9ev/Tig+g6CC322EL2xuLc83Q8B8JF9JD+0BnyzQaz/B22yQtzYyaOjd6qnmBkI4x5Hh/aoIuAfjjeVifSt7VjjwKQNgH2NIc+w0Fk/COB+QQeHykZ/q5KCp7n9nu0bmzhmt9qNFE65VBJMAuCQRhWxzB5UEx/RVtf/XD/ANbP/wB1BL9m/ZfcbOvTcy3CSAxsrABuIliDkk8+X30FT3nH/wDWQfroP7FoPoEUHNBpzdjt2gZVW+ieOTrJGOKM+ZXPEvsGaCY21217OjjJgZ7iTHoqI3QZ+00gGB7M0FP7DtiTXF9NtOVSI/nOEn6cspPFw+KqOLJ8SB44C+9rW4n4yt1aLAuYcmPOgdTzQ+3Aweh9poNb7idqM2zAbLaEMrJGeFdAJYh9XDY4k6jXroSMUGxT2y7K4OLv3J+p3MnF+7w/fQa8317S7jav/wCls6CUJJo+gMsg8MAkRp46+8Cg2b2V7jjZlsQ+GuJSGmYagY9VFPgMnXqSfKgqv4Sf5rafrm/cNBxux2y7Pt7O1gdbjjigjjbhjQjiSNVOCX1GRQSf9OmzfqXX9Wn/ANlBsexuxLGki54XUMueeGGRnzoKJ2g9o52Xdwo8XewyRlm4TiRWDYyM6EeR+NAt+2fZTJxGaRDj1Gict7MoCv30Grt/N5X2/eW9tZQvwISF4gMkuQGdwCQqAAcz1PjQbZ303H+UbIWyix3kCJ3JPVohjGftDiHtINBrnsu7TF2ehsb9JFSNiEYKS0Zz6SOnPGc8snXlQbEvu1/ZUacQuWkOMhUjcsfL0gAD7SKCS7PN8PxnDNOIjEizGOME5JUIhyTyzljy8KDU9x/jgP16/wDTig+g6BQfOO/vebH23JcRDCTIzpjQfOoVceGQ/pY/RoL32A7v9zZPdOD3l02cnn3aEhfiSx948KC2do27Zv7CaBcd5jiizoO8XUAnoDy99BqDsv7RvxZx2N+kixq54Tw5aFj6ysvMrnJ0yck880Gyrrte2UicQuS+mQqRycR8tVAB/SIoJHs93xG1IppliMaJMY0BOWICI2WxoDljoM8qDVO83+NkP66D+xaD6BoFBWNr9n+zrli0tnFxnUso4GJ8SVxk+ZoMSz7LtlxniFmjH7ZZx8GOD76C3wxKqhVUKoGAAAAAOgA5Cg70ETtvdq1u8fKbaKUjQFlHEB4BhqB76DV3aR2Pw/J+92dGVljyWjyT3ideHPJh0HWg7dhe9tsU+RNDFb3QGAyqFNwF+seZlHUE68x1FBuTNBHbb2BbXaqtzCkqqcqG5AkYzQQ/9HGy/wDQIfgf50D+jjZf+gQ/A/zoLLbwKiqijCqAqgcgBoBQYe2dh290oW5gjmUcuNQSPYTqvuoKy3ZPsonPyQc+Qd8fDNBY9ibvW1oCLa3jhB9bhUAn2tzPvNBKUEBt/cyxvDxXFrG74xx44Xx+kuCffQRVr2WbLQ5FmreTlmHwJxQW61tUjQJGioi6KqgKoHkBoKCMO61obn5V8nT5Rni73B4sgcOc58NKCZoFBEbb3atbwqbm3jmKZ4OIZxnGcfAUEjZ2qRRpHGoVEUKijkqqMAD2Cg9qCC2/ufZXh4rm2jkfGOPGHx4cQ1x5UEPbdley0Ofkat5MzMPgTQW6ztEiQJEixoowqooVQPIDQUEbPutaPcC6a3jNwCGEhB4gV5Hn0xQTAoOaBQKBQKBQcGg+YO2qzS32s5gXuyyJKSmR86xJLjHqnIB0xrrQfQ+5928tlbSSNxO8KszaakjU6UEzQKBQKBQKBQKBQKBQKBQKBQKBQKBQKBQKBQf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8" descr="data:image/jpeg;base64,/9j/4AAQSkZJRgABAQAAAQABAAD/2wCEAAkGBhMSERUUExAWFBAWFhYYFhYWGRQQHBwVFBcVGhcWFxsXHCYeGBkjGhgYIC8iLyopLSwsGB4xNTAqNSYsLSkBCQoKDgwOGg8PGjUkHiU1NSosMSw1Mik1LyovNTA1Ki0yMTUvNSwsLS0uLDU1LDU0NTEpLCwsKjUvKi81NDUsKv/AABEIALEBHAMBIgACEQEDEQH/xAAcAAEAAgMBAQEAAAAAAAAAAAAABQYDBAcCAQj/xABOEAACAQMCBAMEBQQNCgcBAAABAgMABBESIQUGMUEHE1EUImFxIzJCgZFSYnKhCBUzNENzgpKiscHR8BckRFNUo7Kz0+E1NlVjhJPxFv/EABoBAQADAQEBAAAAAAAAAAAAAAABAgMEBQb/xAAtEQEAAgEDAgMHBAMAAAAAAAAAAQIRAyExQWEEEnETIjJRgaHwBbHR8VKRwf/aAAwDAQACEQMRAD8A7jSlKBSlKBSlKBSlKBSlKBSlKBStbiHEY4E1yNgdu5J9AO5qCl4rcS6SEMULnCnIDt6bkEJnt/X0oLBPdon1mAJ6DqT8gNzWNbw5HuEKTjLYU5wcbde3fFaVpIsX+jyK3diPNJ+bAkms9zeI6EK4DDBGcrupyOvyoJCleIZdSgjuK90ClKUClKUClKUClKUClKUClKUClKUClKUClKUClKUClKUClKUClKUClKUClKUEDzby811GpjfRPGS0ZO6nOMo47qcDftj5g13h3Nl7KskUtjHLIm0scb+TIvo2iTIYHYhlJHSugVB8xcvmUrNCwjvYv3OTsR3ik/KQ/qzmqWieYdmhqU+DUiO0z0/1vj9vsgeG+JUSLieKeNdwrvGSNiQQSvUggj7qlLXnWznP77iRfRjoY/zwMVH8pcxR67tJMRKD57I+3ls/u3CHPYSgkevmD1rx+1ScTOpLWOGzz+7GNRNL/F7fRp+cck9sds4vbG05dl/C6NbTF6zWI65zG/HTefSVrsLlCSEdWQ7qVYN8xsa3q55wrkC0le4jIeOSGYqGRyD5bgPH9bI2Daf5NZuI8qSWiF04zLCg6ecda/L6wB+WDVovbGZhjbwuj5/JXU371nrxxlfaVzCx5o4srqqolyr6vLZk8gusYBZlzoOMEbkb9s1Kx+KAiYLeWU1s3rguv6wpx8s0jVrKt/0/WrtGLek/85XqlR3CeYra5GYJ0k9QDhh81OGH4VI1rE5cNqzWcWjElKUoqUpSgUpSgUpSgUpSgUpSgUpSgUpSgUpSgUpSgUpSgUpSgUpSgUpSg5p4g8tM17C0IXVce6Q31TJFgjVsc5UAY/NqQTmriFqALqwDRgAa4dgAP0dSj+jU5zUg1Wbd1u4/wKvn9Val5fSXpZIHMVmuRLcdC2OqxfD1b/8ADyWri0+Wd30Gnr+10dOurWJrEbzOYxv0mO20R1wrEHO59quGt4xruTCEMzLGqGNCrM++D2xv/cbZwnk8axPdye1XPUFt0T4Rp0Hzx9wqD5f5Kt7i2d3VkDSOYmB3WNdlznY9D1H4VXJuMz8PkaK3vFmiwQMAsoJyNgdgw6+6SPX0rOt5pEW1N4n84dl9GniJtpeEny2jacxzERj4t8ccbZlfOG3HtPE5pBvFbR+Qp9ZZGDSEfLSFqT43xu0hUrcyxAHqj4cn+RuT+Fc75FsZbqNohf8Akxhizxxe7K+rGXZj26DO/QZFX7hHJlpbbpCDJ/rH+kfPrlun3Yro07WtGYh5fjtHS0NXyWtPu4iIiPvMz8+donlQ+LcBtrnMlhZXMbjLLMuLSIY+19KQcfogV64Dzxf2sKS3cTXFixIWdcFgAxXUTtlTjbUAT69qn+Z+IPe3A4dbsQvW7lH2Y+8YP5R6H54/KxcIrNFjEYQCMKEC4yNIGNOPTG1IrvtKurrxGnWupXOd8TOZiPXv07erFwri0VzGJYZA8Z7j17gg7gj0NbdUTiHLEvD5TdcPUmI7z2g6Mo6mL0YdQO3bb3TcOFcUjuYUmibVG4yD/WCOxByCPUVrE9JcGrpxEeak5r+3afzdt0pSrMClKUClKUClKUClKUClKUClKUClKUClKUClKUClKUClKUClKxXNysaM7sFRQWYnsBuTRMRMziFQ8QdcrRQxRmRlDTOoz9RcIOhB31MNt607zm5ZbMQQxFJm+jMagnC99GBvnpjrufv0oeY5X864jUo07hEcjUdC5EcMC/bkO7M31Vz61vW3L8lkbe5eQmVpQs4JyAsx09e+Cdz6kelcE2m1pmvXn0fT10qaWnXT1YjNfhjPNuZiemM7f22m4JK8ObuX2ezjUYgjP2VG2s9z+OSexrxyhy6skvtbQiOIbW8fw/1jZ3LehPck9AtYuN8z200g82X/ADSM+7GnvtM47sBssY7ZIz16YrYPM99cDFnY+XHjaSb3Rj1A2H4aqtHk83zx9fyGUx4n2Ux8Pm5z7sRHy35mes7z0+b3zFyN7/tNifJulOrSPdVz326KT+B79c1pcR8SAbZVUiG9cmNw+cQsuzyHYkj8kYJJ9cGsy8lXdzvecRfSescPur8uw/ompXh3h7Yw4Ps4kYd5SZf1H3f1VpFbZ92MZYW1tCKxXXv7Sa8Yj7TM8x9Fb5e5stLWPyrSC4u5ScySJGcu56sxO4HoMbfPJMzHxvis37nw6KBT9q4lLf0Yxqq2RQqowqhVHQAAD8BXutYrMbZefqeIpa02im/zmZn+IVuLhnEn3kvoY/zYYNX9KVj/AFVvcB5fFr5mJXcyvrbV5ajWR7zKsaqFztn1xUtSrxWGFtW0xjp2iIKUpUsilKUClKUClKUClKUClKUClKUClKUClKUClKUClKUClKE0Cuec1c3wyyeVqD2yNugYL50inYMx2WBDuWP1iMAHBr5zVzRNeE21gCYs6Jbge6hPeNH9PUjc9ttzn4J4WW8A13Lec4307og+7q337fCsLza+1Xr+Fpo+Gj2uvPvdIjn17dv54jeHcws0heC3N3dgaVcAxW8CHbREDggdix0k1ODlO8ut767wnXyYdh67kjB/BvnVl4daKI8BQqnoqgKAO2ANhWeKbHut1H6x60jR/wApU1P1Gc50qxXvO8/TpH0iEZwjli2g3jiUMDs599vxbJ/DFS+r1/HtWKGQBRnqd8fOsm5+A/X/ANq2isV2h519S+pPmvOZ77vludqy1htun31mqVClKUClKUClKUClKUClKUClKUClKUClKUClKUClKUClKUClKUClKUHmSQKCWICgZJOwAHc1Ez2Zux9IStqf4MZQyD1kPUIfyBjPfY6a0uN8TVrlIHbEKYeQYLam6omACSOhx3+6pP8AbV2/c7aQ/F8Qj+l736qTCa2ms5hg4xbrHHHoUKiMMKoCgDtgDYD++vd5eCRlQMAmzMc4264/x3Na3FXn0gOyAuQFjQFiT8S3p61is7dY5NE67n6rZOmpRlMftinRAWPoBWK4Z206gBk7Dqa30jAGAAB8Nq07Z/MkL/ZXZf7/APHrUDLEhT7OR6jr94rN5oIJB7V4N2ucD3j6Df8AE9BWG7zpJbA9AN/xNBmtfqis1eIVwoHwr3QKUpQKUpQKUpQKUpQKUpQKUpQKUpQKUpQKUpQKUpQKUpQKUpQKUpQUriVwbXiPmtny5AMn80gK34EA4+XrVvmu0WMyFh5YGrV1GPUetYOLcJS4j0OPirDqD6iqfOlxZ6UkHmWytqU7ldX2Se+Ad9JIGR1qeULVw22ZmM8ow7DCIfsJ2H6R6n8K98UuINOmVh8B1YH4AbitOyVbkajds690j+gA+DAZf8TW77LBbozhFUKMk4yfxO5NEoVL+QDy11FWHualw2Ph8Ov/AGre4ciMAryHI/gz9Hv/AG1l4NbsxM8gw7/VX8lOw+eP8bmtu9nhG0hT5HBP3DrRDZRABgAAfDatO9Op0T7z8h/g1hiXP7kkij1LFF+4Nk/qr7woFmeQnVvpU9Nl6moSk6UpQKUpQKUpQKUpQKUpQKUpQKUpQKUpQKUpQKrvJPOkXEoXljRoykjI6MQSCMEHbqCpBB+fpVhNcZ4BeS2FlaXkEZk9phktWRQDm5EsxsnPqCxaMnPRloOgWnO6z3F7bwQmSWzQHJZY1kkIf6MMR7uHUoWOwIPpU/HdYjV5cRkqpYFgQrEDK6tgcHbPeuZS8GFonEoNWopwZdbnq8je3tJIc92dmb76yweyNdxDiXleQOH2xtBcFfJJIb2ggSe4ZR9F8QuO1B00yqOrDt3Hfp+NfPPXVp1DXjOnIzj1x1xVCs+CWs/FWZY45IYuH2bWy7NGBrn8t1HTZQNLdgTjrVWxZHhJYlP2/wA9fd9s9v8AN2A/hPr9vq6fhQdnMyhgpYajuBkZIHoO9DOurTqGsjIXIzj1x1xXNJ5IYOLh29lvJLi5jTGVN3bSiML7o3JgAXUfq4DE71C4sTwuZpjH+32qXJJX2v20SN5Sx4+kxq0BQvu6fhmg6S3MTtfm1jjjMcUcbzyPIUI80yBFjQKdR+jJOSAAay2vN9tJbJciTEEn1SVbPUjdQCR0qs8F5at34pe+daQNJ7PZs+Y42+kmF0Jz0+3jBPfvWt4acAs7jhUUYEYlA/zgR+WH1hnGJhgnOwxqGfdBHSg6Lb3CuodTlWGQR6GvbLnYjIrFaWwjQKMkDuTkkk5JJ7kkkn51moIW75TgY6kDQv8AlRnR+rp+GK07zgl2Qo89JkVtQWUFckZxq0/WA67mrNSpyKvquf8ASIJnHfypEC/zU0t+JNblpf28f8A8R9WifP8AOAP9dTlKCMuOMIyEROGkb3VHQ5bbODvgdfurQvuYks/o2hdlRfdKaW1NoLAYyMFm93PTLDOBvVipUD4DX2lKBSlKBSlKBSlKBSlKBSlKBSlKBSlKBSlKBXKOYfG+GOb2WwsjeOpIymyalOT5YRWZ8HuAB3BPWr5zu7jh14Y8+YLabTjrny26fGucfsb1g9luCNPtXm4f8rydC+X/ACdXmff91B4h8aLtJUW84K0SyssZYiSI4Y4x9JHhgMnbPeuvz2cbqFeNWUdAyhgMdMAivU8CupV1DKeoYBgfmDtVC8a+bmseHlYm0z3DeUrDYqmCZGHxxhc9tYPag1ub/GuyspTFBEbq5GEYRkIoIP1C+CSQT0AIG42NV5/F2/VvPfl5guP3QpMp0/xhi6YqxeDnh1FZ2sdzJGGvZlD6mGTGjjKomfqnSQWPXJx0FdJoKFyH4n2HEpMLGIL4j6jhdTADfy5APfAA6bHbpgZq43scaBp/KUyIjHVgBsKpONWMiuSeOPJCwqvE7UeTPHInmlPczqYaJhjo4fSCe+oelXzl7mP2/g63JwHe3kDgbfSIrK+B2GpSR8CKDX8Nef14qk0otfIMbKh98SlsqSMnQvTfbfrVvit1UkqiqWOWIAGT6nHU1yD9jZ+9rv8Ajk/4DXY6BVL5/wDFO24XhGUzXLDKwoQvu9mdj9QHBxsSfSroa4Fwwo3N8vtYBPmyCEPjGsIPI67Z0Y0/HTjfFBLN41cTC+YeBSCDGdRFwBj11+Xj78V0vkrmccQsoroRmMSa/cLa8FHZDvgZGV9BU5XiGBUGFUKMk4ACjLEknbuSST86D3Sqbzh4r2PDn8uV2kn2zFEA7LnprJIVfXGc43xUVwDx44dcyLG3m27MQA0wQJk9AWVjp+ZwPjQdHpUfx7jUdpbyXEuryol1NpGo4yBsMjPWqtdeMfD47OO6ZpNMpcRx6R5jeW2ljp1YCg9yQKC80rnh8b7EW0dy0VwsUkkka+4jEPEEJBw+BkOMeuD6Vf4J1dVdTlGAZSO4YZBH3UGSlQXOHOdvw2FZrgtpZwihAHYsQx6ZGwCnf5VsjmSAWi3kjeTbmNZMy4QhXAK5AJ945G25ycdaCUpXK7n9kVw9X0rDcugP1wsag/EBnBx88VeeVecrXiMRktpdQUgOpGl0J6BlPTO+D0ODg7UE3Sqze+INrFxBLB/MFw4BB0jQAVZsltW2yntULb+NvD5LxLWITSNJIsayqqiPUxwDlmDFc99PyzQdApUJwPmlLmR0WN00k7tpOdOnP1ScH31OPQ1H/wD975hb2SwurqNSQZUWOGMkHB0NM6mTBBGQMfGgtdKheW+a4rzzAqyRTwsFmgmXy5ELDK6hkgqRuGBINal/zuBO8Ftaz3ksWPN8kRhIyd9DPI6rrxvpGT64oLLSoflzmmK8V9CvHLE2iaGVfLkjbGQHXJ2I3BBIPrsa0b/ncCZ4La0nvJItpTCIwkbHfQzyOql8b6RnHfFBZqVD8t80RXquUDxyxNolhlXy5I36gOuT1G4IJB9etR91z0DLJFa2dxeNE2mVoRGsaOOseuV1DOO6jOO+KC0UqG5c5pivBIEWSKaJgs0Mq+XJGxGV1DJBBG4YEg1M0HwiuMc1+EFzaXBveDSlHGSYAQpGdyIyfddD/q29Ns7AdkuLhUUu7BEUZZmIUADqSTsBXsGg5VyD41efKLTiEXs95q0BsFFZ+mh1beNyfuJ9NgYP9kq3vWAP1cXH9cGf1Vl/ZH8LgCW1wAFumdkJGAXjC5yfXSdIB7a63vFbl2a84Ha3BBa5t4opZR3KyRJ5xx6hgrH4K1B12JQAAPqgDGPTtXqqN4S88x39lGpce1woqSoTudICiUeqsMb9jkembzQVPxXUHg95q6eV+sMpX9eKq3gzn9oJc9NVzj5aR/bmtXx55yTyBw6E+ZczOnmKnvFUDBlQ4+2zhcDrgfEZuXLPLpseDLbt+6JbyGTv9I4d3Ge+GYj5AUFJ/Y2fva7/AI5P+A12OuN/sbP3td/xyf8AAa7JQK5/4l+E8fE8TROIb5QAH30uB9VZMbgjsw3HodsdArFBdI+dDqwViraSGwynDKcdCDsRQcP4R4n8R4RKtrxeB5Iuiy/WfSPtK/1Z1+fvb7ntXUeYeb44+Fy30DrIghLxMNwWb3UyD+eQCOuxFePEnhkE/DLoThdKQySKxxlZEUlGU9jnA+OSO9cl5DtZbjlniUQyVV2aMdfqLFI6r/Nzj1PxoM3g7JwyNXvL+7gN/JIxXznUsgzu+G6OzZOrrjGOpzN+LfEeEXthI0d1bNeRANCUZNZwRqj23YFc7euD2qL8HeSeFcQsSZ7cSXUUjLJ9JMh0sdUbaVcADBxnH2DV8/yK8H/2H/e3P/UoKrZ8Ze55QlZzqdIniJPcRSAJ8/c0j7qxeA/JsMlt7ZcRiV9TRwCQB1jjU5YqDsGZ2fftjbqas/OvALez4BdxWqBIPLLABmkGXZCSCxJOfnTwK/8ABof05v8AmtQZPFPkyOfhU6Qwojxn2hAihMvGPf2Ubs0eofE4rx4I8xe1cKjVjmS3Jhb9FcGM/LQVH8k1fiK4XyderwTjV9ayHTavG8qfoxK00eM+kRkX5ig2fEYHivHrXhy7wwYabH5wEku4/wDbVFHxatXxk4otzxW14dJOILKPy2lYkIAXyS2+2VjAC/Fj61NeBfDHne74pMPpbmRlT9HVrkx+bq0qP4s1WvE3hsCcyQteLmznEOvJZBp0mIkspBAVlDHfpQdM4dzPwOCEQRXVmkIGNAaMgjGDqz9YnuTknvXNeX762tOZ1FhKjWVz7pWIhlHmIToGNhiVQQOwOK6OPBbg/wDsX+9uP+pWxwzwr4VbzxyxWoSdDrQ+bOxBXvhnIOMjt3oOWeJvC2ueZYoFcp5qQxsy9RG6sJCP5Bau2cO5Ss4EjSK0iVYypT3FJDLgh9RGS+RnVnOa5XzB/wCcLX9GP/lS12ug1LThUURLRxKjNsSBjbJOB6DJJwNsknvW0qgDAGAOnbavtVfmbmCVpBZWWDeuAXkI1JbRH+Fk9XP2E7nc7DcIxbsftvfXKbxW1ikcpHQzq0k2nPQlY8A+moCpLwzsfL4Zbsd5Jk9okY9WkuPpGZvU+8B8gK2BytHBw6W1hBOqGYFmOp3klRg0jt9p2Y5J/sArz4dXYk4VZMpyBbRKf0o1CMP5ymghuO3Is+MCcD3ZuH3GsdAz2ZWRWPqQjFflUp4aWPl8Mtid5JoxPIx6tJcfSMzHufex8gKh+c7c3HEo4U3ePht8x/8AkaIkH3kH8DU94d3SycKsmU5Hs0K/yo0CMPuZSKCOmj8nj0bLsLqykVwNsvbSIUc+pCOV+VaPI3G4bCJ7G8kW3uIHmcPKRGs0TyPIJ0dsB9mwRnI07itrjt2o4zAx3FrYXU747K7RqPvOhvwrDy/ypHxK3jvOIr7RJcJrSJi3lQxSjKpEgIAbTpy/1iR1FBt8qZub+5v0RktXihghLAoZfKLs02kgHTlgqk9QCauVUzgIksuImx855rSS3aeDzWMjxGN1R4dZ3ePDKVzuOnxq50EfzBwkXVrNbltAmjePUBqxrUjOO/WuSW3hdx609yz4snkDZVZ5UAHwRkdV+412ulByPgngpNLcLc8WvTdOmMRAu6nByFZnx7mfshQD6+vWyu2O1faUHJuZvAkGb2jhtybObJIT3lQMe8bJ70Y+GCPTA2qkc7y8f4cI0uuISeRIdIlhdmAPdS2lX1Y3weozg7HH6QqP47wKG8geCdNcTjBHcHsynswO4NBRPDHwvsrcJerP7bM41JMRhRq6lFJJD9QSxyDnZTmuiX9uZInQHBZGUE+rKR/bVB8O/Dy94VK6i9jlsXYkxMrqwP2XXsrdMjofuBrotBwzhnghxW2BFvxZYVYgsI3uIwSNsnSBk1u/5K+O/wDrz/8A3XVdmpQa/D4GSKNHbU6oqs25ywUAtvvud65VzB4ScQW8muuHcS8pp5GkZCZIN2JOklNQcZO2QK67Sg4vN4T8ZvcJxDiy+z5BKIzy5x+ZpRM/E5xXVOXeXIbG2S2gXESA9feLE7szHuxP92w2qUpQch414K3EN0bnhF4LVmJzExZFGdyqsobKZ+wVwPX0+P4e8fux5d5xhUgOzCLJJB6ghEjDD5muv0oKzxzlAycJbh8UmPoEhR39IwgBbSPRewr74d8rPw6wjtpHV3VpCWTIHvuWHXfvVlpQK5v4p+FT8TlhmgmSKVEaNy+r3kJyoGkdsuPiGrpFKCM5Z4GtnaQ2yfVijVc9Mt1ZvmzEn76iufuQIOKwCOUlJUJMUqgEqT1GD9ZTgZG3QbjFWilBxqw5A5jtVENvxWLyF2TUzNhR0ADwsVGOwOBVp5D8Prm1uHu72/a6unjMWPeKqpZWOC2/VRsAoG+x7XylBQOJ+HU0vHIeIiaMQxhQUOrUdKOu22PtVf6UoMF+khicRMFmKMI2YagHKnSWHcA4yKofAOWeL2iMscvDmd2LyyyJdvJJI3V5GDjJ7DYADoK6HSgg+ApxHW3tjWhj0+77Os6NqyPreYxGMZqHh5bvrJ5Bw97d7SV2kEFz5sflSOcv5TRBsxlsnSQMdj1zdKUFf5Y5beB5p7iUTXtwV8x1UoiogwkMSkkhFyeu5JJNRcHLd/ZPIvD3tntJHaQQ3Jlj8l3OWETRBsxliTpIGM7Hrm6UoK7y5yu0RnluZBPd3OPOYLoQIoISGNSSRGoJ67kkk1E8N5f4nYL5FpLaz2a58kXJmikjUnIj1RqwkUdiQDV4pQVvl/lqVLh7y7mWW8eMRKI1McUUQOoxxhiWbLbljucDYYqyUpQKUpQKUpQKUpQKUpQKUpQKUpQKUpQKUpQKUpQKUpQKUpQKUpQKUpQKUpQKUpQKUpQKUpQKUpQf/9k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226" name="Picture 10" descr="http://www.intersoftdevelopment.com/IDI-ASPNET/microsoft-sql-server-200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265107"/>
            <a:ext cx="1981521" cy="162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http://www.targettrust.com.br/blog/wp-content/uploads/2012/03/postgre1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949479"/>
            <a:ext cx="2016224" cy="15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http://t1.gstatic.com/images?q=tbn:ANd9GcRuvoybD5ANtYCuIGKWh1WmqxB1EdQfC3jZ0jvNSpfm1xwxQeb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301208"/>
            <a:ext cx="2304256" cy="108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14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2" y="2924944"/>
            <a:ext cx="5433245" cy="648072"/>
          </a:xfrm>
        </p:spPr>
        <p:txBody>
          <a:bodyPr>
            <a:normAutofit/>
          </a:bodyPr>
          <a:lstStyle/>
          <a:p>
            <a:pPr algn="l"/>
            <a:r>
              <a:rPr lang="pt-BR" dirty="0" smtClean="0"/>
              <a:t>Instalação e Configuração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483768" y="4169505"/>
            <a:ext cx="417646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dirty="0" smtClean="0"/>
              <a:t>Mão na massa</a:t>
            </a:r>
          </a:p>
          <a:p>
            <a:pPr marL="342900" indent="-342900">
              <a:buFontTx/>
              <a:buChar char="-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93400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Tabelas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51520" y="3809644"/>
            <a:ext cx="871296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pt-BR" sz="2200" dirty="0" smtClean="0"/>
              <a:t>Local para armazenamento de dados;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Uma tabela pertence a um banco de dados;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Posso ter quantas tabelas forem necessárias;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Não posso ter tabelas com o mesmo nome no mesmo banco;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Tabelas possuem campos;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59887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Exemplo Tabela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573016"/>
            <a:ext cx="8352928" cy="3245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126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Campos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51520" y="3809644"/>
            <a:ext cx="871296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pt-BR" sz="2200" dirty="0" smtClean="0"/>
              <a:t>Fazem parte de uma tabela;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Um campo tem um tipo de dado, por exemplo, </a:t>
            </a:r>
            <a:r>
              <a:rPr lang="pt-BR" sz="2200" dirty="0" err="1" smtClean="0"/>
              <a:t>String</a:t>
            </a:r>
            <a:r>
              <a:rPr lang="pt-BR" sz="2200" dirty="0" smtClean="0"/>
              <a:t>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Geralmente uma tabela possui mais de um campo;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01441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Exemplo Campos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645024"/>
            <a:ext cx="8640960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412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Registros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51520" y="3809644"/>
            <a:ext cx="871296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pt-BR" sz="2200" dirty="0" smtClean="0"/>
              <a:t>São os dados gravados em uma tabela;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São as informações;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7255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1046" y="692696"/>
            <a:ext cx="8229600" cy="2209800"/>
          </a:xfrm>
        </p:spPr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883" y="2924944"/>
            <a:ext cx="4968552" cy="648072"/>
          </a:xfrm>
        </p:spPr>
        <p:txBody>
          <a:bodyPr/>
          <a:lstStyle/>
          <a:p>
            <a:pPr algn="l"/>
            <a:r>
              <a:rPr lang="pt-BR" dirty="0" smtClean="0"/>
              <a:t>Data Types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51520" y="3809644"/>
            <a:ext cx="871296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pt-BR" sz="2200" dirty="0" smtClean="0"/>
              <a:t>São como variáveis;</a:t>
            </a:r>
          </a:p>
          <a:p>
            <a:pPr marL="342900" indent="-342900">
              <a:buFontTx/>
              <a:buChar char="-"/>
            </a:pPr>
            <a:r>
              <a:rPr lang="pt-BR" sz="2200" dirty="0" smtClean="0"/>
              <a:t>Escolher o tipo de dado incorreto pode prejudicar a performance do banco;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7324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1046" y="692696"/>
            <a:ext cx="8229600" cy="2209800"/>
          </a:xfrm>
        </p:spPr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060404"/>
              </p:ext>
            </p:extLst>
          </p:nvPr>
        </p:nvGraphicFramePr>
        <p:xfrm>
          <a:off x="323528" y="2949513"/>
          <a:ext cx="8229600" cy="387477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pt-BR" u="none" strike="noStrike" dirty="0">
                          <a:effectLst/>
                          <a:hlinkClick r:id="rId3" tooltip="10.2. Numeric Types"/>
                        </a:rPr>
                        <a:t>TINYINT</a:t>
                      </a:r>
                      <a:endParaRPr lang="pt-BR" dirty="0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1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-128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127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 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 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0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255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u="none" strike="noStrike">
                          <a:effectLst/>
                          <a:hlinkClick r:id="rId3" tooltip="10.2. Numeric Types"/>
                        </a:rPr>
                        <a:t>SMALLINT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2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-32768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32767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 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 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0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65535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u="none" strike="noStrike">
                          <a:effectLst/>
                          <a:hlinkClick r:id="rId3" tooltip="10.2. Numeric Types"/>
                        </a:rPr>
                        <a:t>MEDIUMINT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3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-8388608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8388607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 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 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0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16777215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u="none" strike="noStrike">
                          <a:effectLst/>
                          <a:hlinkClick r:id="rId3" tooltip="10.2. Numeric Types"/>
                        </a:rPr>
                        <a:t>INT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4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</a:rPr>
                        <a:t>-2147483648</a:t>
                      </a:r>
                      <a:endParaRPr lang="pt-BR" dirty="0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2147483647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 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 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0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4294967295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u="none" strike="noStrike">
                          <a:effectLst/>
                          <a:hlinkClick r:id="rId3" tooltip="10.2. Numeric Types"/>
                        </a:rPr>
                        <a:t>BIGINT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</a:rPr>
                        <a:t>8</a:t>
                      </a:r>
                      <a:endParaRPr lang="pt-BR" dirty="0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</a:rPr>
                        <a:t>-9223372036854775808</a:t>
                      </a:r>
                      <a:endParaRPr lang="pt-BR" dirty="0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</a:rPr>
                        <a:t>9223372036854775807</a:t>
                      </a:r>
                      <a:endParaRPr lang="pt-BR" dirty="0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41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1046" y="692696"/>
            <a:ext cx="8229600" cy="2209800"/>
          </a:xfrm>
        </p:spPr>
        <p:txBody>
          <a:bodyPr/>
          <a:lstStyle/>
          <a:p>
            <a:r>
              <a:rPr lang="pt-BR" dirty="0" smtClean="0"/>
              <a:t>Curso de MySQL</a:t>
            </a:r>
            <a:endParaRPr lang="pt-BR" dirty="0"/>
          </a:p>
        </p:txBody>
      </p:sp>
      <p:pic>
        <p:nvPicPr>
          <p:cNvPr id="1026" name="Picture 2" descr="C:\Users\RAFAEL\Desktop\page_down_r2_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3673059" cy="88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472531"/>
              </p:ext>
            </p:extLst>
          </p:nvPr>
        </p:nvGraphicFramePr>
        <p:xfrm>
          <a:off x="457200" y="3068960"/>
          <a:ext cx="8229600" cy="3528393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070553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effectLst/>
                        </a:rPr>
                        <a:t>Value</a:t>
                      </a:r>
                      <a:endParaRPr lang="pt-BR" dirty="0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effectLst/>
                        </a:rPr>
                        <a:t>CHAR(4)</a:t>
                      </a:r>
                      <a:endParaRPr lang="pt-BR" dirty="0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effectLst/>
                        </a:rPr>
                        <a:t>Storage Required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effectLst/>
                        </a:rPr>
                        <a:t>VARCHAR(4)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effectLst/>
                        </a:rPr>
                        <a:t>Storage Required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61446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    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4 bytes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1 byte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61446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  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4 bytes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3 bytes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61446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''abcd''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''abcd''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4 bytes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''abcd''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5 bytes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  <a:tr h="61446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''abcdefgh''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''abcd''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4 bytes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''abcd''</a:t>
                      </a:r>
                      <a:endParaRPr lang="pt-BR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</a:rPr>
                        <a:t>5 bytes</a:t>
                      </a:r>
                      <a:endParaRPr lang="pt-BR" dirty="0">
                        <a:effectLst/>
                        <a:latin typeface="Verdana"/>
                      </a:endParaRPr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47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undição">
  <a:themeElements>
    <a:clrScheme name="Fundição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undição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undiçã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28110</TotalTime>
  <Words>430</Words>
  <Application>Microsoft Office PowerPoint</Application>
  <PresentationFormat>Apresentação na tela (4:3)</PresentationFormat>
  <Paragraphs>123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Fundição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  <vt:lpstr>Curso de MySQL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MySQL</dc:title>
  <dc:creator>RAFAEL</dc:creator>
  <cp:lastModifiedBy>RAFAEL</cp:lastModifiedBy>
  <cp:revision>7</cp:revision>
  <dcterms:created xsi:type="dcterms:W3CDTF">2013-10-21T21:42:14Z</dcterms:created>
  <dcterms:modified xsi:type="dcterms:W3CDTF">2013-11-10T10:12:46Z</dcterms:modified>
</cp:coreProperties>
</file>